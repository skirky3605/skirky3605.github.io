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6A6CA-45AA-458A-AC04-296300EEF0D3}" v="2" dt="2021-02-08T09:40:24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2" d="100"/>
          <a:sy n="92" d="100"/>
        </p:scale>
        <p:origin x="37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AB72A-984B-D84C-9CED-97BE5AE76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8315B5-AE7B-F64B-9F0E-D280A7C1AE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E0D93B-68C1-344C-92FB-B84BA00B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3B3EF-332F-D844-9C96-F982B48F09D5}" type="datetimeFigureOut">
              <a:rPr kumimoji="1" lang="zh-CN" altLang="en-US" smtClean="0"/>
              <a:t>2021/3/6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094553-951D-1248-8211-2D0D8868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528637-EF96-6B44-BCC0-2F585ABF8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F04-B207-BE47-BF5D-F851BBC9A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824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5B444-D7EE-554D-B83C-BB4F1AAAA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AA0902-558B-D149-BF99-2C815E95A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170D1C-EA0D-2B49-BDB7-6420E6C1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3B3EF-332F-D844-9C96-F982B48F09D5}" type="datetimeFigureOut">
              <a:rPr kumimoji="1" lang="zh-CN" altLang="en-US" smtClean="0"/>
              <a:t>2021/3/6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08289D-7FFC-194A-A76B-52417004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F1F2A5-D951-DE4E-9E82-58C9B13E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F04-B207-BE47-BF5D-F851BBC9A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892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65C1C-C63C-DA43-9BF9-D4F5DD53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C82EF0-86C5-8F4C-9D12-5A5EE3976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60AEEF-BE24-3447-875E-785371E9F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3B3EF-332F-D844-9C96-F982B48F09D5}" type="datetimeFigureOut">
              <a:rPr kumimoji="1" lang="zh-CN" altLang="en-US" smtClean="0"/>
              <a:t>2021/3/6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1F20B-5DEB-C94F-862A-E911ECB6C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9CFD7E-4CE6-E242-A965-ABB7051AA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F04-B207-BE47-BF5D-F851BBC9A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139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EC0A7-E5B5-2C40-BCEB-C1386124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378E2E-E90A-7244-9281-9526F3A04D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221A22-79C4-0644-A8C4-C6D483A6F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98D91F-82BE-9C49-BC95-A0565D5D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3B3EF-332F-D844-9C96-F982B48F09D5}" type="datetimeFigureOut">
              <a:rPr kumimoji="1" lang="zh-CN" altLang="en-US" smtClean="0"/>
              <a:t>2021/3/6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A4B3AB-1006-4E43-9B6E-5BC252A0C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5FA283-34BD-3844-AD41-13F09BF0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F04-B207-BE47-BF5D-F851BBC9A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5808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BB640-C788-E842-945B-9EFBCE6AA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7BCE98-04E9-9447-BE63-F5D86A85B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18FF28-2D65-D940-829A-A4FEDB5AE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3BBD44-85C1-C342-94BF-F0409428A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01471F-F86F-A542-9180-4D49E1637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91EAF7-C8D6-6E4F-8140-8D159DBB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3B3EF-332F-D844-9C96-F982B48F09D5}" type="datetimeFigureOut">
              <a:rPr kumimoji="1" lang="zh-CN" altLang="en-US" smtClean="0"/>
              <a:t>2021/3/6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6E51A9-1AB3-EC4B-B483-3B56ECF97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8C423FB-C434-1A4B-9DB3-674728FB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F04-B207-BE47-BF5D-F851BBC9A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544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AC5D10-6BCF-6442-BB86-27877A8D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A48E3E-46CF-D348-B0E1-1056589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3B3EF-332F-D844-9C96-F982B48F09D5}" type="datetimeFigureOut">
              <a:rPr kumimoji="1" lang="zh-CN" altLang="en-US" smtClean="0"/>
              <a:t>2021/3/6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373DD1-74A6-4F42-8AE1-1E6C612D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600F47-956A-FB4B-95EE-5655B196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F04-B207-BE47-BF5D-F851BBC9A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648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D28FCA-3068-6046-B714-E1A941277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3B3EF-332F-D844-9C96-F982B48F09D5}" type="datetimeFigureOut">
              <a:rPr kumimoji="1" lang="zh-CN" altLang="en-US" smtClean="0"/>
              <a:t>2021/3/6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B1FE2A-2533-D546-988D-A38332D6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676E10-F5EA-BD4E-9CA4-A7B8561A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F04-B207-BE47-BF5D-F851BBC9A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1785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83FCF-04B5-7F46-8D88-8FF9A8899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62ADE1-3E54-DD4A-92A4-51DA9DB4C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E7F29E-21CF-454A-82C2-C72A6FF91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F3D1D1-14C6-0249-A275-6264BDA2E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3B3EF-332F-D844-9C96-F982B48F09D5}" type="datetimeFigureOut">
              <a:rPr kumimoji="1" lang="zh-CN" altLang="en-US" smtClean="0"/>
              <a:t>2021/3/6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18CD75-8A3C-984A-893D-B8AEF277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4278F9-F715-FF42-AB22-389DC061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F04-B207-BE47-BF5D-F851BBC9A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780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9D474-9FF6-5641-B795-9AC609C1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8795FF-1678-DE47-A803-16E0E27FB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5411D3-55EE-E349-AA84-A63B41F2E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4EB6B7-8D37-2342-A91B-41BB48A51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3B3EF-332F-D844-9C96-F982B48F09D5}" type="datetimeFigureOut">
              <a:rPr kumimoji="1" lang="zh-CN" altLang="en-US" smtClean="0"/>
              <a:t>2021/3/6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2F8D9F-2E21-5448-B44B-147ADBEBE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144A6B-1B15-2F4E-AAF6-162631C5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F04-B207-BE47-BF5D-F851BBC9A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009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A20C4-BABD-F042-8D7F-7F470698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E0A2D1-33BC-584B-986D-64786CCE9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714EB-DF6E-D948-80F2-828B841E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3B3EF-332F-D844-9C96-F982B48F09D5}" type="datetimeFigureOut">
              <a:rPr kumimoji="1" lang="zh-CN" altLang="en-US" smtClean="0"/>
              <a:t>2021/3/6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275328-0113-854C-A1CB-676A08DD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59264A-D3E4-6E4F-A199-6981BAA7D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F04-B207-BE47-BF5D-F851BBC9A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26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3F14ED-6120-834F-86CD-E5C046573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EA7B6F-78DA-6147-8D76-98BD80995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C2AE5-EABB-A04E-8282-70C3AEE9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3B3EF-332F-D844-9C96-F982B48F09D5}" type="datetimeFigureOut">
              <a:rPr kumimoji="1" lang="zh-CN" altLang="en-US" smtClean="0"/>
              <a:t>2021/3/6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FA1763-F32A-1B46-B438-5330BA14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D25B3C-FF6F-1544-A5E4-FCB951FF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F04-B207-BE47-BF5D-F851BBC9A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9429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0AA5B8-6537-834D-861E-089E113D6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1E0A73-2BFB-AA47-9A3B-F74E7AEFE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1D8482-A14C-0A42-9D4A-0CE4B981CF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3B3EF-332F-D844-9C96-F982B48F09D5}" type="datetimeFigureOut">
              <a:rPr kumimoji="1" lang="zh-CN" altLang="en-US" smtClean="0"/>
              <a:t>2021/3/6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55104-A614-9F4F-9538-0CD50BD9C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428BBB-DFD3-B34D-A160-0DF4F9B7B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D9F04-B207-BE47-BF5D-F851BBC9A2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638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537A6-9445-4CBB-AA49-F9A34596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1A57F2-5B9A-423A-B3E1-571B5DC46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18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小孩们在桌子边&#10;&#10;中度可信度描述已自动生成">
            <a:extLst>
              <a:ext uri="{FF2B5EF4-FFF2-40B4-BE49-F238E27FC236}">
                <a16:creationId xmlns:a16="http://schemas.microsoft.com/office/drawing/2014/main" id="{A3A3102F-7AB9-1245-8EAE-CA2EBD411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86"/>
            <a:ext cx="12192000" cy="686637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253BF20-1AB9-5A40-95C6-F6749761EA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76D671-9D3B-BF40-B246-0B7E5AA1BE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735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200">
        <p:fade/>
      </p:transition>
    </mc:Choice>
    <mc:Fallback xmlns="">
      <p:transition spd="med" advClick="0" advTm="12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小孩们在桌子边&#10;&#10;中度可信度描述已自动生成">
            <a:extLst>
              <a:ext uri="{FF2B5EF4-FFF2-40B4-BE49-F238E27FC236}">
                <a16:creationId xmlns:a16="http://schemas.microsoft.com/office/drawing/2014/main" id="{A3A3102F-7AB9-1245-8EAE-CA2EBD411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186"/>
            <a:ext cx="12192000" cy="686637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253BF20-1AB9-5A40-95C6-F6749761EA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76D671-9D3B-BF40-B246-0B7E5AA1BE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BE2B68-8F0E-5B4D-BC1E-70638F65E418}"/>
              </a:ext>
            </a:extLst>
          </p:cNvPr>
          <p:cNvSpPr txBox="1"/>
          <p:nvPr/>
        </p:nvSpPr>
        <p:spPr>
          <a:xfrm>
            <a:off x="2942973" y="205146"/>
            <a:ext cx="6306053" cy="70788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>
                <a:latin typeface="字魂81号-清风体" pitchFamily="2" charset="-122"/>
                <a:ea typeface="字魂81号-清风体" pitchFamily="2" charset="-122"/>
              </a:rPr>
              <a:t>春联见证历史沧桑</a:t>
            </a:r>
          </a:p>
        </p:txBody>
      </p:sp>
    </p:spTree>
    <p:extLst>
      <p:ext uri="{BB962C8B-B14F-4D97-AF65-F5344CB8AC3E}">
        <p14:creationId xmlns:p14="http://schemas.microsoft.com/office/powerpoint/2010/main" val="1138576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>
              <p:cTn id="8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179 0.24953" pathEditMode="relative" ptsTypes="AA">
                                      <p:cBhvr>
                                        <p:cTn id="12" dur="3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3000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01179 0.24953 L 0 0" pathEditMode="relative" ptsTypes="AA">
                                      <p:cBhvr>
                                        <p:cTn id="17" dur="3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9" dur="3000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00"/>
                            </p:stCondLst>
                            <p:childTnLst>
                              <p:par>
                                <p:cTn id="2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22" dur="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家具, 男人, 游戏机, 站&#10;&#10;描述已自动生成">
            <a:extLst>
              <a:ext uri="{FF2B5EF4-FFF2-40B4-BE49-F238E27FC236}">
                <a16:creationId xmlns:a16="http://schemas.microsoft.com/office/drawing/2014/main" id="{5B6C787E-3A92-3541-BB1A-E7A816F4A1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BCD68E5-6927-6F40-AB95-9A556E67152F}"/>
              </a:ext>
            </a:extLst>
          </p:cNvPr>
          <p:cNvSpPr txBox="1"/>
          <p:nvPr/>
        </p:nvSpPr>
        <p:spPr>
          <a:xfrm>
            <a:off x="4814047" y="2474259"/>
            <a:ext cx="2563906" cy="4924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600" dirty="0">
                <a:latin typeface="字魂81号-清风体" panose="00000500000000000000" pitchFamily="2" charset="-122"/>
                <a:ea typeface="字魂81号-清风体" panose="00000500000000000000" pitchFamily="2" charset="-122"/>
              </a:rPr>
              <a:t>春联的传说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CF26C7-9B83-E545-8C71-D41FEA536850}"/>
              </a:ext>
            </a:extLst>
          </p:cNvPr>
          <p:cNvSpPr txBox="1"/>
          <p:nvPr/>
        </p:nvSpPr>
        <p:spPr>
          <a:xfrm>
            <a:off x="8839200" y="2474258"/>
            <a:ext cx="2563906" cy="5232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600" dirty="0">
                <a:latin typeface="字魂81号-清风体" pitchFamily="2" charset="-122"/>
                <a:ea typeface="字魂81号-清风体" panose="00000500000000000000" pitchFamily="2" charset="-122"/>
              </a:rPr>
              <a:t>春联的</a:t>
            </a:r>
            <a:r>
              <a:rPr kumimoji="1" lang="zh-CN" altLang="en-US" sz="2800" dirty="0">
                <a:ea typeface="字魂81号-清风体" panose="00000500000000000000" pitchFamily="2" charset="-122"/>
              </a:rPr>
              <a:t>故事</a:t>
            </a:r>
            <a:endParaRPr kumimoji="1" lang="en-US" altLang="zh-CN" sz="2600" dirty="0">
              <a:latin typeface="字魂81号-清风体" pitchFamily="2" charset="-122"/>
              <a:ea typeface="字魂81号-清风体" panose="000005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C0EB84-420B-264C-BEBA-27B121352889}"/>
              </a:ext>
            </a:extLst>
          </p:cNvPr>
          <p:cNvSpPr txBox="1"/>
          <p:nvPr/>
        </p:nvSpPr>
        <p:spPr>
          <a:xfrm>
            <a:off x="788894" y="2474259"/>
            <a:ext cx="2563906" cy="4924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600" dirty="0">
                <a:latin typeface="字魂81号-清风体" panose="00000500000000000000" pitchFamily="2" charset="-122"/>
                <a:ea typeface="字魂81号-清风体" panose="00000500000000000000" pitchFamily="2" charset="-122"/>
              </a:rPr>
              <a:t>春联的来历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BCF026-D9D9-F24B-BDE2-B7217A727E46}"/>
              </a:ext>
            </a:extLst>
          </p:cNvPr>
          <p:cNvSpPr txBox="1"/>
          <p:nvPr/>
        </p:nvSpPr>
        <p:spPr>
          <a:xfrm>
            <a:off x="2653553" y="385482"/>
            <a:ext cx="6884894" cy="70788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ea typeface="字魂81号-清风体" pitchFamily="2" charset="-122"/>
              </a:rPr>
              <a:t>步骤一览</a:t>
            </a:r>
          </a:p>
        </p:txBody>
      </p:sp>
    </p:spTree>
    <p:extLst>
      <p:ext uri="{BB962C8B-B14F-4D97-AF65-F5344CB8AC3E}">
        <p14:creationId xmlns:p14="http://schemas.microsoft.com/office/powerpoint/2010/main" val="30876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4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1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8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1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5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7881B4-9446-DC4E-9D94-625F251FD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CDDA294-E353-7B4B-842B-82EB7F6CB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1" cy="6863604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76D169B-D35C-5A42-93BF-5CF1126AEF94}"/>
              </a:ext>
            </a:extLst>
          </p:cNvPr>
          <p:cNvSpPr txBox="1"/>
          <p:nvPr/>
        </p:nvSpPr>
        <p:spPr>
          <a:xfrm>
            <a:off x="1864659" y="510988"/>
            <a:ext cx="7628965" cy="55399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>
                <a:ea typeface="字魂81号-清风体" pitchFamily="2" charset="-122"/>
              </a:rPr>
              <a:t>春联的来历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21A31C-7FE0-4647-9A79-731E6216F324}"/>
              </a:ext>
            </a:extLst>
          </p:cNvPr>
          <p:cNvSpPr txBox="1"/>
          <p:nvPr/>
        </p:nvSpPr>
        <p:spPr>
          <a:xfrm>
            <a:off x="1385047" y="1997839"/>
            <a:ext cx="85881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457200"/>
            <a:r>
              <a:rPr lang="zh-CN" altLang="en-US">
                <a:solidFill>
                  <a:srgbClr val="FFFF00"/>
                </a:solidFill>
                <a:ea typeface="字魂81号-清风体" pitchFamily="2" charset="-122"/>
              </a:rPr>
              <a:t>一说春联来源于桃符。据</a:t>
            </a:r>
            <a:r>
              <a:rPr lang="en-US" altLang="zh-CN">
                <a:solidFill>
                  <a:srgbClr val="FFFF00"/>
                </a:solidFill>
                <a:ea typeface="字魂81号-清风体" pitchFamily="2" charset="-122"/>
              </a:rPr>
              <a:t>《</a:t>
            </a:r>
            <a:r>
              <a:rPr lang="zh-CN" altLang="en-US">
                <a:solidFill>
                  <a:srgbClr val="FFFF00"/>
                </a:solidFill>
                <a:ea typeface="字魂81号-清风体" pitchFamily="2" charset="-122"/>
              </a:rPr>
              <a:t>后汉书</a:t>
            </a:r>
            <a:r>
              <a:rPr lang="en-US" altLang="zh-CN">
                <a:solidFill>
                  <a:srgbClr val="FFFF00"/>
                </a:solidFill>
                <a:ea typeface="字魂81号-清风体" pitchFamily="2" charset="-122"/>
              </a:rPr>
              <a:t>·</a:t>
            </a:r>
            <a:r>
              <a:rPr lang="zh-CN" altLang="en-US">
                <a:solidFill>
                  <a:srgbClr val="FFFF00"/>
                </a:solidFill>
                <a:ea typeface="字魂81号-清风体" pitchFamily="2" charset="-122"/>
              </a:rPr>
              <a:t>礼仪志</a:t>
            </a:r>
            <a:r>
              <a:rPr lang="en-US" altLang="zh-CN">
                <a:solidFill>
                  <a:srgbClr val="FFFF00"/>
                </a:solidFill>
                <a:ea typeface="字魂81号-清风体" pitchFamily="2" charset="-122"/>
              </a:rPr>
              <a:t>》</a:t>
            </a:r>
            <a:r>
              <a:rPr lang="zh-CN" altLang="en-US">
                <a:solidFill>
                  <a:srgbClr val="FFFF00"/>
                </a:solidFill>
                <a:ea typeface="字魂81号-清风体" pitchFamily="2" charset="-122"/>
              </a:rPr>
              <a:t>说，桃符长六寸，宽三寸，桃木板上书“神荼”、“郁垒”二神。“正月一日，造桃符著户，名仙木，百鬼所畏。”五代时，西蜀的宫廷里，有人在桃符上提写联语。清代</a:t>
            </a:r>
            <a:r>
              <a:rPr lang="en-US" altLang="zh-CN">
                <a:solidFill>
                  <a:srgbClr val="FFFF00"/>
                </a:solidFill>
                <a:ea typeface="字魂81号-清风体" pitchFamily="2" charset="-122"/>
              </a:rPr>
              <a:t>《</a:t>
            </a:r>
            <a:r>
              <a:rPr lang="zh-CN" altLang="en-US">
                <a:solidFill>
                  <a:srgbClr val="FFFF00"/>
                </a:solidFill>
                <a:ea typeface="字魂81号-清风体" pitchFamily="2" charset="-122"/>
              </a:rPr>
              <a:t>燕京时岁记</a:t>
            </a:r>
            <a:r>
              <a:rPr lang="en-US" altLang="zh-CN">
                <a:solidFill>
                  <a:srgbClr val="FFFF00"/>
                </a:solidFill>
                <a:ea typeface="字魂81号-清风体" pitchFamily="2" charset="-122"/>
              </a:rPr>
              <a:t>》</a:t>
            </a:r>
            <a:r>
              <a:rPr lang="zh-CN" altLang="en-US">
                <a:solidFill>
                  <a:srgbClr val="FFFF00"/>
                </a:solidFill>
                <a:ea typeface="字魂81号-清风体" pitchFamily="2" charset="-122"/>
              </a:rPr>
              <a:t>上说：“春联者，即桃符也。”</a:t>
            </a:r>
          </a:p>
          <a:p>
            <a:pPr marL="360000" indent="457200"/>
            <a:r>
              <a:rPr lang="zh-CN" altLang="en-US">
                <a:solidFill>
                  <a:srgbClr val="FFFF00"/>
                </a:solidFill>
                <a:ea typeface="字魂81号-清风体" pitchFamily="2" charset="-122"/>
              </a:rPr>
              <a:t>　　春联的另一来源是春贴，古人在立春日多贴“宜春”二字，后渐渐发展为春联，表达了中国劳动人民一种辟邪除灾、迎祥纳福的美好愿望。</a:t>
            </a:r>
          </a:p>
          <a:p>
            <a:pPr marL="360000" indent="457200"/>
            <a:r>
              <a:rPr lang="zh-CN" altLang="en-US">
                <a:solidFill>
                  <a:srgbClr val="FFFF00"/>
                </a:solidFill>
                <a:ea typeface="字魂81号-清风体" pitchFamily="2" charset="-122"/>
              </a:rPr>
              <a:t>　　据说这一习俗起于宋代，在明代开始盛行，到了清代，春联的思想性和艺术性都有了很大的提高。现在贴春联已成风俗，红色的对联贴在大门上，房子顿时生辉。正如诗云：“喜气临门红色妍，家家户户贴春联</a:t>
            </a:r>
            <a:r>
              <a:rPr lang="en-US" altLang="zh-CN">
                <a:solidFill>
                  <a:srgbClr val="FFFF00"/>
                </a:solidFill>
                <a:ea typeface="字魂81号-清风体" pitchFamily="2" charset="-122"/>
              </a:rPr>
              <a:t>;</a:t>
            </a:r>
            <a:r>
              <a:rPr lang="zh-CN" altLang="en-US">
                <a:solidFill>
                  <a:srgbClr val="FFFF00"/>
                </a:solidFill>
                <a:ea typeface="字魂81号-清风体" pitchFamily="2" charset="-122"/>
              </a:rPr>
              <a:t>旧年辞别迎新岁，时序车轮总向前。”</a:t>
            </a:r>
          </a:p>
        </p:txBody>
      </p:sp>
    </p:spTree>
    <p:extLst>
      <p:ext uri="{BB962C8B-B14F-4D97-AF65-F5344CB8AC3E}">
        <p14:creationId xmlns:p14="http://schemas.microsoft.com/office/powerpoint/2010/main" val="405532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0595A-7322-2A41-9AEB-0D51719F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EC38C9-3EE0-0A48-8FFA-96B23B005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FDE7962D-4394-DC48-BA2D-071E0B5AB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1" cy="686360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8F55400-D7C9-CA4C-9D71-D8298AC26482}"/>
              </a:ext>
            </a:extLst>
          </p:cNvPr>
          <p:cNvSpPr txBox="1"/>
          <p:nvPr/>
        </p:nvSpPr>
        <p:spPr>
          <a:xfrm>
            <a:off x="1864659" y="510988"/>
            <a:ext cx="7628965" cy="55399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>
                <a:ea typeface="字魂81号-清风体" pitchFamily="2" charset="-122"/>
              </a:rPr>
              <a:t>春联的传说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44233B-0EA6-B146-BA35-EDBE3A1B0C09}"/>
              </a:ext>
            </a:extLst>
          </p:cNvPr>
          <p:cNvSpPr txBox="1"/>
          <p:nvPr/>
        </p:nvSpPr>
        <p:spPr>
          <a:xfrm>
            <a:off x="1676400" y="2055813"/>
            <a:ext cx="80054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457200"/>
            <a:r>
              <a:rPr lang="zh-CN" altLang="en-US">
                <a:solidFill>
                  <a:srgbClr val="FFFF00"/>
                </a:solidFill>
                <a:latin typeface="字魂81号-清风体" pitchFamily="2" charset="-122"/>
                <a:ea typeface="字魂81号-清风体" pitchFamily="2" charset="-122"/>
              </a:rPr>
              <a:t>相传在中国古代神话中的</a:t>
            </a:r>
            <a:r>
              <a:rPr lang="en-US" altLang="zh-CN">
                <a:solidFill>
                  <a:srgbClr val="FFFF00"/>
                </a:solidFill>
                <a:latin typeface="字魂81号-清风体" pitchFamily="2" charset="-122"/>
                <a:ea typeface="字魂81号-清风体" pitchFamily="2" charset="-122"/>
              </a:rPr>
              <a:t>《</a:t>
            </a:r>
            <a:r>
              <a:rPr lang="zh-CN" altLang="en-US">
                <a:solidFill>
                  <a:srgbClr val="FFFF00"/>
                </a:solidFill>
                <a:latin typeface="字魂81号-清风体" pitchFamily="2" charset="-122"/>
                <a:ea typeface="字魂81号-清风体" pitchFamily="2" charset="-122"/>
              </a:rPr>
              <a:t>山海经</a:t>
            </a:r>
            <a:r>
              <a:rPr lang="en-US" altLang="zh-CN">
                <a:solidFill>
                  <a:srgbClr val="FFFF00"/>
                </a:solidFill>
                <a:latin typeface="字魂81号-清风体" pitchFamily="2" charset="-122"/>
                <a:ea typeface="字魂81号-清风体" pitchFamily="2" charset="-122"/>
              </a:rPr>
              <a:t>》</a:t>
            </a:r>
            <a:r>
              <a:rPr lang="zh-CN" altLang="en-US">
                <a:solidFill>
                  <a:srgbClr val="FFFF00"/>
                </a:solidFill>
                <a:latin typeface="字魂81号-清风体" pitchFamily="2" charset="-122"/>
                <a:ea typeface="字魂81号-清风体" pitchFamily="2" charset="-122"/>
              </a:rPr>
              <a:t>里，有一个鬼域的世界，中间有座山，山上有一棵覆盖三千里的大桃树，树梢上有一只金鸡。每当清晨金鸡长鸣的时候，夜晚出去游荡的鬼魂必赶回鬼域。鬼域的大门坐落在桃树的东北，门边站着两个神人，名叫神荼、郁垒。如果鬼魂在夜间干了伤天害理的事情，神荼、郁垒就会立即发现并将它捉住，用芒苇做的绳子把它捆起来，送去喂虎。因而天下的鬼都畏惧神荼、郁垒。于是中国民间就用桃木刻成他们的模样，放在自家门口，以避邪防害。后来，人们干脆在桃木板上刻上神荼、郁垒的名字，认为这样做同样可以镇邪去恶。这种桃木板后来就被叫做“桃符”。到了宋代，人们便开始在桃木板上写对联，一则不失桃木镇邪的意义，二则表达自己美好心愿，三则装饰门户，以求美观。又在象征喜气吉祥的红纸上写对联，新春之际贴在门窗两边，用以表达人们祈求来年福运的良好心愿。</a:t>
            </a:r>
            <a:endParaRPr kumimoji="1" lang="zh-CN" altLang="en-US">
              <a:solidFill>
                <a:srgbClr val="FFFF00"/>
              </a:solidFill>
              <a:latin typeface="字魂81号-清风体" pitchFamily="2" charset="-122"/>
              <a:ea typeface="字魂81号-清风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333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2E630-52EB-5E40-9AEE-B1A1DBA02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6A82B-710C-9246-9534-E947C0D9B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6" name="内容占位符 4">
            <a:extLst>
              <a:ext uri="{FF2B5EF4-FFF2-40B4-BE49-F238E27FC236}">
                <a16:creationId xmlns:a16="http://schemas.microsoft.com/office/drawing/2014/main" id="{949B5EBC-B297-FB4B-8CE6-2DDF8D9ED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1" cy="686360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9C2364B-AF75-7D45-94F6-6A0A6A03E26D}"/>
              </a:ext>
            </a:extLst>
          </p:cNvPr>
          <p:cNvSpPr txBox="1"/>
          <p:nvPr/>
        </p:nvSpPr>
        <p:spPr>
          <a:xfrm>
            <a:off x="1864659" y="510988"/>
            <a:ext cx="7628965" cy="55399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>
                <a:ea typeface="字魂81号-清风体" pitchFamily="2" charset="-122"/>
              </a:rPr>
              <a:t>春联的故事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0F225B-8E3A-DC46-8140-D96C5A98FB28}"/>
              </a:ext>
            </a:extLst>
          </p:cNvPr>
          <p:cNvSpPr txBox="1"/>
          <p:nvPr/>
        </p:nvSpPr>
        <p:spPr>
          <a:xfrm>
            <a:off x="1770529" y="1997839"/>
            <a:ext cx="78172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kumimoji="1" lang="zh-CN" altLang="en-US">
                <a:solidFill>
                  <a:srgbClr val="FFFF00"/>
                </a:solidFill>
                <a:ea typeface="字魂81号-清风体" pitchFamily="2" charset="-122"/>
              </a:rPr>
              <a:t>纪晓岚是清朝的大学士，有一次，他春节回家探亲，乡里有一家三兄弟请他写春联，他写了一副“惊天动地门户，数一数二人家”，横批是“先斩后奏”的春联。</a:t>
            </a:r>
          </a:p>
          <a:p>
            <a:pPr indent="457200"/>
            <a:r>
              <a:rPr kumimoji="1" lang="zh-CN" altLang="en-US">
                <a:solidFill>
                  <a:srgbClr val="FFFF00"/>
                </a:solidFill>
                <a:ea typeface="字魂81号-清风体" pitchFamily="2" charset="-122"/>
              </a:rPr>
              <a:t>这一来可不得了，有人以“犯上”之名，告了他个欺君之罪。</a:t>
            </a:r>
          </a:p>
          <a:p>
            <a:pPr indent="457200"/>
            <a:r>
              <a:rPr kumimoji="1" lang="zh-CN" altLang="en-US">
                <a:solidFill>
                  <a:srgbClr val="FFFF00"/>
                </a:solidFill>
                <a:ea typeface="字魂81号-清风体" pitchFamily="2" charset="-122"/>
              </a:rPr>
              <a:t>乾隆皇帝得知，立召纪晓岚回京查问，纪晓岚回道：“春联是我写的没错</a:t>
            </a:r>
            <a:r>
              <a:rPr kumimoji="1" lang="en-US" altLang="zh-CN">
                <a:solidFill>
                  <a:srgbClr val="FFFF00"/>
                </a:solidFill>
                <a:ea typeface="字魂81号-清风体" pitchFamily="2" charset="-122"/>
              </a:rPr>
              <a:t>!</a:t>
            </a:r>
            <a:r>
              <a:rPr kumimoji="1" lang="zh-CN" altLang="en-US">
                <a:solidFill>
                  <a:srgbClr val="FFFF00"/>
                </a:solidFill>
                <a:ea typeface="字魂81号-清风体" pitchFamily="2" charset="-122"/>
              </a:rPr>
              <a:t>这家老大是卖炮仗的，不是‘惊天动地门户’吗</a:t>
            </a:r>
            <a:r>
              <a:rPr kumimoji="1" lang="en-US" altLang="zh-CN">
                <a:solidFill>
                  <a:srgbClr val="FFFF00"/>
                </a:solidFill>
                <a:ea typeface="字魂81号-清风体" pitchFamily="2" charset="-122"/>
              </a:rPr>
              <a:t>?</a:t>
            </a:r>
            <a:r>
              <a:rPr kumimoji="1" lang="zh-CN" altLang="en-US">
                <a:solidFill>
                  <a:srgbClr val="FFFF00"/>
                </a:solidFill>
                <a:ea typeface="字魂81号-清风体" pitchFamily="2" charset="-122"/>
              </a:rPr>
              <a:t>老二是集市上管斗的，成天‘一斗、二斗’地叫，不是数一数二人家吗</a:t>
            </a:r>
            <a:r>
              <a:rPr kumimoji="1" lang="en-US" altLang="zh-CN">
                <a:solidFill>
                  <a:srgbClr val="FFFF00"/>
                </a:solidFill>
                <a:ea typeface="字魂81号-清风体" pitchFamily="2" charset="-122"/>
              </a:rPr>
              <a:t>?</a:t>
            </a:r>
            <a:r>
              <a:rPr kumimoji="1" lang="zh-CN" altLang="en-US">
                <a:solidFill>
                  <a:srgbClr val="FFFF00"/>
                </a:solidFill>
                <a:ea typeface="字魂81号-清风体" pitchFamily="2" charset="-122"/>
              </a:rPr>
              <a:t>老三是卖烧鸡的不是‘先斩后奏’吗</a:t>
            </a:r>
            <a:r>
              <a:rPr kumimoji="1" lang="en-US" altLang="zh-CN">
                <a:solidFill>
                  <a:srgbClr val="FFFF00"/>
                </a:solidFill>
                <a:ea typeface="字魂81号-清风体" pitchFamily="2" charset="-122"/>
              </a:rPr>
              <a:t>?”</a:t>
            </a:r>
            <a:endParaRPr kumimoji="1" lang="zh-CN" altLang="en-US">
              <a:solidFill>
                <a:srgbClr val="FFFF00"/>
              </a:solidFill>
              <a:ea typeface="字魂81号-清风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08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5D63D-B377-CD46-B8C6-A4D4A9CA6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图片包含 游戏机, 地毯&#10;&#10;描述已自动生成">
            <a:extLst>
              <a:ext uri="{FF2B5EF4-FFF2-40B4-BE49-F238E27FC236}">
                <a16:creationId xmlns:a16="http://schemas.microsoft.com/office/drawing/2014/main" id="{F551FB56-5011-A548-AAC7-254AF2D72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61587"/>
          </a:xfrm>
        </p:spPr>
      </p:pic>
    </p:spTree>
    <p:extLst>
      <p:ext uri="{BB962C8B-B14F-4D97-AF65-F5344CB8AC3E}">
        <p14:creationId xmlns:p14="http://schemas.microsoft.com/office/powerpoint/2010/main" val="104211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5D63D-B377-CD46-B8C6-A4D4A9CA6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图片包含 游戏机, 地毯&#10;&#10;描述已自动生成">
            <a:extLst>
              <a:ext uri="{FF2B5EF4-FFF2-40B4-BE49-F238E27FC236}">
                <a16:creationId xmlns:a16="http://schemas.microsoft.com/office/drawing/2014/main" id="{F551FB56-5011-A548-AAC7-254AF2D72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61587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0A557D3-571B-C141-8301-0936BABD8DA8}"/>
              </a:ext>
            </a:extLst>
          </p:cNvPr>
          <p:cNvSpPr txBox="1"/>
          <p:nvPr/>
        </p:nvSpPr>
        <p:spPr>
          <a:xfrm>
            <a:off x="3101787" y="558709"/>
            <a:ext cx="5988424" cy="101566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000">
                <a:ea typeface="字魂81号-清风体" pitchFamily="2" charset="-122"/>
              </a:rPr>
              <a:t>结束</a:t>
            </a:r>
          </a:p>
        </p:txBody>
      </p:sp>
    </p:spTree>
    <p:extLst>
      <p:ext uri="{BB962C8B-B14F-4D97-AF65-F5344CB8AC3E}">
        <p14:creationId xmlns:p14="http://schemas.microsoft.com/office/powerpoint/2010/main" val="162896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春联见证历史沧桑</Template>
  <TotalTime>20</TotalTime>
  <Words>621</Words>
  <Application>Microsoft Office PowerPoint</Application>
  <PresentationFormat>宽屏</PresentationFormat>
  <Paragraphs>16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字魂81号-清风体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梓硕</dc:creator>
  <cp:lastModifiedBy>赵 梓硕</cp:lastModifiedBy>
  <cp:revision>5</cp:revision>
  <dcterms:created xsi:type="dcterms:W3CDTF">2021-03-04T09:48:39Z</dcterms:created>
  <dcterms:modified xsi:type="dcterms:W3CDTF">2021-03-06T14:42:25Z</dcterms:modified>
</cp:coreProperties>
</file>